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7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70" r:id="rId8"/>
    <p:sldId id="262" r:id="rId9"/>
    <p:sldId id="273" r:id="rId10"/>
    <p:sldId id="279" r:id="rId11"/>
    <p:sldId id="280" r:id="rId12"/>
    <p:sldId id="281" r:id="rId13"/>
    <p:sldId id="282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fX52E/O2vMdvfztXTaB/Ggd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20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FEB4E06C-AEC4-A0DF-5F88-299E3163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3E53AE94-A11E-885A-2CBD-AB4D8A50D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F244E0ED-4A1C-F18D-AE2B-CC50F40D4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277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C6E56207-F42D-9A31-965D-7B07081B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58425DC4-06A9-7D7C-DA2D-7348CE320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7964D09D-6DE5-5AE4-BCBD-61B86E378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117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3364D16-397A-A16E-95C8-EFCBAB66D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kerere University - data.org">
            <a:extLst>
              <a:ext uri="{FF2B5EF4-FFF2-40B4-BE49-F238E27FC236}">
                <a16:creationId xmlns:a16="http://schemas.microsoft.com/office/drawing/2014/main" id="{F80BC8B0-28EA-762F-0D7A-5B6334F51B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4F89D84E-2BC7-4D37-DB09-CC9EC19BE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0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B178440F-7742-4EF6-4D36-FA7782232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kerere University - data.org">
            <a:extLst>
              <a:ext uri="{FF2B5EF4-FFF2-40B4-BE49-F238E27FC236}">
                <a16:creationId xmlns:a16="http://schemas.microsoft.com/office/drawing/2014/main" id="{DFFA85FC-D464-4A1E-D99E-06ECBF3D5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DB6798A6-D4E5-DDF7-CD1E-636FF7036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2D8642E-3B24-38FE-1A15-7D064D0110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1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AAEE5B36-4AC6-34D0-3EE3-75ECA02E60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5DFE70A8-8DEC-E1E0-0F80-3CC5E4283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2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8D6953CF-067D-E709-05F8-F0DD3D17A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7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F0389045-4EC2-D8FE-3AD1-AB97C511A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666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3D776D8-4C08-7E05-5A99-451839D024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7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AAD6571-8582-73A0-E399-4E24B7F44E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9FBD9A6-F4F7-4C81-8C3B-C6430A86515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kerere University - data.org">
            <a:extLst>
              <a:ext uri="{FF2B5EF4-FFF2-40B4-BE49-F238E27FC236}">
                <a16:creationId xmlns:a16="http://schemas.microsoft.com/office/drawing/2014/main" id="{DE1A894A-8052-B57C-2DF3-1C78D4ABAF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7475E0E-31FE-D872-A2E6-0821144EF9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8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dest.nakiroya@students.mak.ac.u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Ayebare.carltont@students.mak.ac.u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475861" y="813320"/>
            <a:ext cx="10235681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</a:rPr>
              <a:t>Exploratory Data Analysis for Pipeline Inspection and Leakage Detection</a:t>
            </a:r>
          </a:p>
          <a:p>
            <a:pPr algn="ctr"/>
            <a:r>
              <a:rPr lang="en-US" sz="3000" b="1" dirty="0">
                <a:solidFill>
                  <a:schemeClr val="dk1"/>
                </a:solidFill>
              </a:rPr>
              <a:t>A Study Using Annotated Image Data and Sensor Time-Series</a:t>
            </a:r>
          </a:p>
          <a:p>
            <a:pPr algn="ctr"/>
            <a:endParaRPr lang="en-US" sz="3000" b="1" dirty="0">
              <a:solidFill>
                <a:schemeClr val="dk1"/>
              </a:solidFill>
            </a:endParaRPr>
          </a:p>
          <a:p>
            <a:pPr algn="ctr"/>
            <a:r>
              <a:rPr lang="en-US" sz="3000" b="1" dirty="0">
                <a:solidFill>
                  <a:schemeClr val="dk1"/>
                </a:solidFill>
              </a:rPr>
              <a:t>Group CODE: SW-ML-7</a:t>
            </a:r>
          </a:p>
        </p:txBody>
      </p:sp>
      <p:sp>
        <p:nvSpPr>
          <p:cNvPr id="96" name="Google Shape;96;p1"/>
          <p:cNvSpPr/>
          <p:nvPr/>
        </p:nvSpPr>
        <p:spPr>
          <a:xfrm>
            <a:off x="177281" y="4665517"/>
            <a:ext cx="9181323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 Name, Student Number, Registration Number, Student Email, University Affiliation</a:t>
            </a:r>
          </a:p>
          <a:p>
            <a:endParaRPr lang="en-US" sz="2000" dirty="0"/>
          </a:p>
          <a:p>
            <a:pPr marL="342900" indent="-3429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Modest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Nakiroya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modest.nakiroya@students.mak.ac.ug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23/U/13810/PS, Student</a:t>
            </a:r>
          </a:p>
          <a:p>
            <a:pPr marL="342900" indent="-3429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Carlton Ayebare T.,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ayebare.carltont@students.mak.ac.ug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23/U/07137/EVE, Student</a:t>
            </a:r>
            <a:endParaRPr lang="en-US" sz="2000" dirty="0"/>
          </a:p>
        </p:txBody>
      </p:sp>
      <p:sp>
        <p:nvSpPr>
          <p:cNvPr id="2" name="Google Shape;121;p5">
            <a:extLst>
              <a:ext uri="{FF2B5EF4-FFF2-40B4-BE49-F238E27FC236}">
                <a16:creationId xmlns:a16="http://schemas.microsoft.com/office/drawing/2014/main" id="{6EA1F570-75BF-68FA-21E1-DC25188BADCD}"/>
              </a:ext>
            </a:extLst>
          </p:cNvPr>
          <p:cNvSpPr txBox="1">
            <a:spLocks/>
          </p:cNvSpPr>
          <p:nvPr/>
        </p:nvSpPr>
        <p:spPr>
          <a:xfrm>
            <a:off x="643812" y="3429000"/>
            <a:ext cx="10730204" cy="6059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/>
              <a:t>Keywords: EDA, Fault Detection, Gas Leak Detection, Machine Learning, Sensor Data, Object Detection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D683EB-6024-505F-211D-A2CCE7F81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8890" y="4938141"/>
            <a:ext cx="3741575" cy="146304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Department of Computer Science, COCIS</a:t>
            </a:r>
            <a:br>
              <a:rPr lang="en-US" sz="2800" dirty="0"/>
            </a:br>
            <a:r>
              <a:rPr lang="en-US" sz="2800" dirty="0"/>
              <a:t>Makerere University</a:t>
            </a:r>
            <a:br>
              <a:rPr lang="en-US" sz="2800" dirty="0"/>
            </a:br>
            <a:r>
              <a:rPr lang="en-US" sz="2800" dirty="0"/>
              <a:t>Supervisor: Ggaliwango Marvin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Contents of Presentation</a:t>
            </a:r>
            <a:endParaRPr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idx="1"/>
          </p:nvPr>
        </p:nvSpPr>
        <p:spPr>
          <a:xfrm>
            <a:off x="755780" y="947797"/>
            <a:ext cx="11019453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31">
              <a:spcBef>
                <a:spcPts val="0"/>
              </a:spcBef>
              <a:buSzPct val="100000"/>
            </a:pPr>
            <a:r>
              <a:rPr lang="en-US" sz="2200" dirty="0"/>
              <a:t>Introduction &amp; Background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Related Work</a:t>
            </a:r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Problem Statement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Research Questions and Objectives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Research Contributions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Methodology / System Architecture</a:t>
            </a:r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Dataset Description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EDA Results: Sensor Data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EDA Results: Image Data</a:t>
            </a:r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Key Findings &amp; Discussion</a:t>
            </a:r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Conclusions &amp; Future Work</a:t>
            </a:r>
            <a:endParaRPr sz="2200" dirty="0"/>
          </a:p>
          <a:p>
            <a:pPr marL="342900" indent="-342931">
              <a:spcBef>
                <a:spcPts val="536"/>
              </a:spcBef>
              <a:buSzPct val="100000"/>
            </a:pPr>
            <a:r>
              <a:rPr lang="en-US" sz="2200" dirty="0"/>
              <a:t>References &amp; Acknowledgements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408991" y="287694"/>
            <a:ext cx="11374017" cy="75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632423"/>
              </a:buClr>
              <a:buSzPct val="100000"/>
            </a:pPr>
            <a:r>
              <a:rPr lang="en-US" sz="4500" dirty="0">
                <a:sym typeface="Arial Rounded"/>
              </a:rPr>
              <a:t>INTRODUCTION &amp; BACKGROUND</a:t>
            </a:r>
            <a:endParaRPr sz="4500" dirty="0"/>
          </a:p>
        </p:txBody>
      </p:sp>
      <p:sp>
        <p:nvSpPr>
          <p:cNvPr id="109" name="Google Shape;109;p3"/>
          <p:cNvSpPr txBox="1">
            <a:spLocks noGrp="1"/>
          </p:cNvSpPr>
          <p:nvPr>
            <p:ph idx="1"/>
          </p:nvPr>
        </p:nvSpPr>
        <p:spPr>
          <a:xfrm>
            <a:off x="105744" y="1237046"/>
            <a:ext cx="6024465" cy="533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/>
            <a:r>
              <a:rPr lang="en-US" dirty="0"/>
              <a:t>Industrial systems such as chemical plants and pipeline networks operate continuously under complex physical conditions. </a:t>
            </a:r>
          </a:p>
          <a:p>
            <a:pPr marL="342900" indent="-342900"/>
            <a:r>
              <a:rPr lang="en-US" dirty="0"/>
              <a:t>Pipeline faults and gas leaks can develop gradually and may not be immediately visible to human operators.</a:t>
            </a:r>
          </a:p>
          <a:p>
            <a:pPr marL="342900" indent="-190500">
              <a:buNone/>
            </a:pPr>
            <a:endParaRPr lang="en-UG" dirty="0"/>
          </a:p>
          <a:p>
            <a:pPr marL="342900" indent="-190500">
              <a:buNone/>
            </a:pPr>
            <a:endParaRPr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01EC6B07-6569-B6A0-3948-E945AB29E102}"/>
              </a:ext>
            </a:extLst>
          </p:cNvPr>
          <p:cNvSpPr txBox="1">
            <a:spLocks/>
          </p:cNvSpPr>
          <p:nvPr/>
        </p:nvSpPr>
        <p:spPr>
          <a:xfrm>
            <a:off x="6111547" y="1237046"/>
            <a:ext cx="6024465" cy="53332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project focuses on performing structured Exploratory Data Analysis (EDA) on: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The Tennessee Eastman Process (TEP) sensor dataset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An annotated gas leak image dataset</a:t>
            </a:r>
          </a:p>
          <a:p>
            <a:r>
              <a:rPr lang="en-US" dirty="0"/>
              <a:t>The goal is to extract insights that inform future model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933060" y="380999"/>
            <a:ext cx="9896669" cy="4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RELATED WORK</a:t>
            </a:r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idx="1"/>
          </p:nvPr>
        </p:nvSpPr>
        <p:spPr>
          <a:xfrm>
            <a:off x="74645" y="1218385"/>
            <a:ext cx="5831633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b="1" dirty="0"/>
              <a:t>Tennessee Eastman Process (TEP) 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Introduced by Downs &amp; Vogel (1993), it simulates an industrial chemical plant with 41 sensor measurements and 21 fault scenarios. It is a key benchmark for fault detection. CNNs, LSTMs, and autoencoders have all been tested on it.</a:t>
            </a:r>
            <a:endParaRPr dirty="0"/>
          </a:p>
        </p:txBody>
      </p:sp>
      <p:sp>
        <p:nvSpPr>
          <p:cNvPr id="2" name="Google Shape;121;p5">
            <a:extLst>
              <a:ext uri="{FF2B5EF4-FFF2-40B4-BE49-F238E27FC236}">
                <a16:creationId xmlns:a16="http://schemas.microsoft.com/office/drawing/2014/main" id="{C731ABB0-45F8-BF6A-27FD-6F222ED806DC}"/>
              </a:ext>
            </a:extLst>
          </p:cNvPr>
          <p:cNvSpPr txBox="1">
            <a:spLocks/>
          </p:cNvSpPr>
          <p:nvPr/>
        </p:nvSpPr>
        <p:spPr>
          <a:xfrm>
            <a:off x="6120882" y="1264223"/>
            <a:ext cx="5996473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</a:pPr>
            <a:r>
              <a:rPr lang="en-US" b="1" dirty="0"/>
              <a:t>Gas Leak Image Detection 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Infrared cameras and annotated datasets are used to train models like YOLO and Faster R-CNN to detect gas leaks visually. Pascal VOC XML format is the standard for storing bounding box annotations used in this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/>
              <a:t>PROBLEM STATEMENT</a:t>
            </a: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idx="1"/>
          </p:nvPr>
        </p:nvSpPr>
        <p:spPr>
          <a:xfrm>
            <a:off x="690465" y="1349685"/>
            <a:ext cx="4889241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Pipeline faults and gas leakages are hard to detect early using traditional manual methods. Delayed detection leads to equipment damage, safety risks, and financial losses.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Without a thorough understanding of feature distributions, temporal </a:t>
            </a:r>
            <a:r>
              <a:rPr lang="en-US" dirty="0" err="1"/>
              <a:t>behaviour</a:t>
            </a:r>
            <a:r>
              <a:rPr lang="en-US" dirty="0"/>
              <a:t>, and annotation characteristics, machine learning models may produce unreliable or biased results.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Google Shape;115;p4">
            <a:extLst>
              <a:ext uri="{FF2B5EF4-FFF2-40B4-BE49-F238E27FC236}">
                <a16:creationId xmlns:a16="http://schemas.microsoft.com/office/drawing/2014/main" id="{610A68E3-62A6-A967-8D53-69A401050D70}"/>
              </a:ext>
            </a:extLst>
          </p:cNvPr>
          <p:cNvSpPr txBox="1">
            <a:spLocks/>
          </p:cNvSpPr>
          <p:nvPr/>
        </p:nvSpPr>
        <p:spPr>
          <a:xfrm>
            <a:off x="6861110" y="1250158"/>
            <a:ext cx="4889241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project addresses the need to systematically examine and validate these datasets to establish a data-driven foundation for accurate and robust detection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RESEARCH OBJECTIVES</a:t>
            </a:r>
            <a:endParaRPr dirty="0"/>
          </a:p>
        </p:txBody>
      </p:sp>
      <p:sp>
        <p:nvSpPr>
          <p:cNvPr id="127" name="Google Shape;127;p6"/>
          <p:cNvSpPr txBox="1">
            <a:spLocks noGrp="1"/>
          </p:cNvSpPr>
          <p:nvPr>
            <p:ph idx="1"/>
          </p:nvPr>
        </p:nvSpPr>
        <p:spPr>
          <a:xfrm>
            <a:off x="964162" y="1153071"/>
            <a:ext cx="10643119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 To examine the quality and structure of both datasets (sensor data and image data)</a:t>
            </a:r>
            <a:endParaRPr dirty="0"/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 To explore the distribution of sensor measurements and identify trends over time</a:t>
            </a:r>
            <a:endParaRPr dirty="0"/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 To analyse bounding box properties and image resolution in the gas leak dataset</a:t>
            </a:r>
            <a:endParaRPr dirty="0"/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 To identify data characteristics that will inform future model selection and preprocessing</a:t>
            </a:r>
            <a:endParaRPr dirty="0"/>
          </a:p>
          <a:p>
            <a:pPr marL="457200" lvl="1" indent="0">
              <a:buNone/>
            </a:pPr>
            <a:endParaRPr dirty="0"/>
          </a:p>
          <a:p>
            <a:pPr marL="742950" lvl="1" indent="-285750"/>
            <a:endParaRPr dirty="0"/>
          </a:p>
          <a:p>
            <a:pPr marL="742950" lvl="1" indent="-285750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RESEARCH CONTRIBUTIONS</a:t>
            </a:r>
            <a:endParaRPr dirty="0"/>
          </a:p>
        </p:txBody>
      </p:sp>
      <p:sp>
        <p:nvSpPr>
          <p:cNvPr id="127" name="Google Shape;127;p6"/>
          <p:cNvSpPr txBox="1">
            <a:spLocks noGrp="1"/>
          </p:cNvSpPr>
          <p:nvPr>
            <p:ph idx="1"/>
          </p:nvPr>
        </p:nvSpPr>
        <p:spPr>
          <a:xfrm>
            <a:off x="1017037" y="975789"/>
            <a:ext cx="10674220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 err="1"/>
              <a:t>Characterised</a:t>
            </a:r>
            <a:r>
              <a:rPr lang="en-US" dirty="0"/>
              <a:t> gas leak dataset (8,881 images, 9,384 boxes) including scale and aspect ratio variability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Conducted comprehensive data quality validation for both sensor and image datasets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 err="1"/>
              <a:t>Characterised</a:t>
            </a:r>
            <a:r>
              <a:rPr lang="en-US" dirty="0"/>
              <a:t> bounding box size distribution, revealing multi-scale leak variation</a:t>
            </a:r>
          </a:p>
          <a:p>
            <a:pPr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 err="1"/>
              <a:t>Analysed</a:t>
            </a:r>
            <a:r>
              <a:rPr lang="en-US" dirty="0"/>
              <a:t> aspect ratio variability to inform anchor box design</a:t>
            </a:r>
          </a:p>
          <a:p>
            <a:pPr marL="742950" lvl="1" indent="-285750"/>
            <a:endParaRPr dirty="0"/>
          </a:p>
          <a:p>
            <a:pPr marL="742950" lvl="1" indent="-28575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478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133" name="Google Shape;133;p7"/>
          <p:cNvSpPr txBox="1">
            <a:spLocks noGrp="1"/>
          </p:cNvSpPr>
          <p:nvPr>
            <p:ph idx="1"/>
          </p:nvPr>
        </p:nvSpPr>
        <p:spPr>
          <a:xfrm>
            <a:off x="942391" y="975789"/>
            <a:ext cx="10898155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b="1" dirty="0"/>
              <a:t>Tools: </a:t>
            </a:r>
            <a:r>
              <a:rPr lang="en-US" dirty="0"/>
              <a:t>Python 3, pandas, matplotlib, Pillow (PIL), xml.etree.ElementTree
</a:t>
            </a:r>
            <a:r>
              <a:rPr lang="en-US" b="1" dirty="0"/>
              <a:t>Sensor Data (data.ipynb): 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Load sample (1,000 rows) → Check quality (missing values, duplicates) → Histograms &amp; Boxplots → Label distribution → Time-series plots → Rolling Mean &amp; Rolling Std Dev
</a:t>
            </a:r>
            <a:r>
              <a:rPr lang="en-US" b="1" dirty="0"/>
              <a:t>Image Data (image_eda.ipynb): 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Locate images &amp; XML files → Parse VOC annotations into DataFrame → Class distribution → Bounding box area &amp; aspect ratio → Image resolution scatter plot → Visualise annotated images</a:t>
            </a:r>
            <a:endParaRPr dirty="0"/>
          </a:p>
          <a:p>
            <a:pPr marL="342900" indent="-19050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99108186-81FE-8EFD-9802-D453706A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EE032C69-59AC-68B2-8F14-19DA00D4B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474306"/>
            <a:ext cx="10730204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DATASET 1: TENNESSEE EASTMAN PROCESS (TEP) SENSOR DATA</a:t>
            </a:r>
            <a:endParaRPr dirty="0"/>
          </a:p>
        </p:txBody>
      </p:sp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7ADDF942-C187-9A3C-0197-51DA95F9B5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5233" y="1069096"/>
            <a:ext cx="2817846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20000"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Source: TEP simulation CSV file
Sample size: 1,000 rows (chunked random sampling)
Columns: 57 total</a:t>
            </a:r>
          </a:p>
          <a:p>
            <a:pPr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1 timestamp (time)
41 sensor measurements (xmeas_1 to xmeas_41): </a:t>
            </a:r>
            <a:r>
              <a:rPr lang="en-US" dirty="0" err="1"/>
              <a:t>faultNumber</a:t>
            </a:r>
            <a:r>
              <a:rPr lang="en-US" dirty="0"/>
              <a:t>, simulationRun, sample, label
Missing values: NONE
Duplicate rows: NONE
Data types: mostly float64 (continuous measurements)
Label: All 1,000 sampled rows = normal (label 0.0)</a:t>
            </a:r>
            <a:endParaRPr dirty="0"/>
          </a:p>
          <a:p>
            <a:pPr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" name="Google Shape;133;p7">
            <a:extLst>
              <a:ext uri="{FF2B5EF4-FFF2-40B4-BE49-F238E27FC236}">
                <a16:creationId xmlns:a16="http://schemas.microsoft.com/office/drawing/2014/main" id="{0693850C-CB9F-3A46-4165-3A586AA29402}"/>
              </a:ext>
            </a:extLst>
          </p:cNvPr>
          <p:cNvSpPr txBox="1">
            <a:spLocks/>
          </p:cNvSpPr>
          <p:nvPr/>
        </p:nvSpPr>
        <p:spPr>
          <a:xfrm>
            <a:off x="3977951" y="1174843"/>
            <a:ext cx="8021216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Sensor distributions: broadly bell-shaped, different spreads per sensor
Boxplots: small number of outlier readings: likely genuine transient events
Time-series: sensors stay within consistent ranges under normal conditions
Rolling Mean (window=30): reveals slow underlying trends in some sensors
Rolling Std Dev (window=30): highlights periods of instability: potential early fault signals</a:t>
            </a:r>
          </a:p>
          <a:p>
            <a:pPr marL="342900" indent="-190500">
              <a:buFont typeface="Tw Cen MT" panose="020B0602020104020603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7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99108186-81FE-8EFD-9802-D453706A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EE032C69-59AC-68B2-8F14-19DA00D4B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474306"/>
            <a:ext cx="10730204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DATASET 2: GAS LEAK IMAGE DATASET</a:t>
            </a:r>
            <a:endParaRPr dirty="0"/>
          </a:p>
        </p:txBody>
      </p:sp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7ADDF942-C187-9A3C-0197-51DA95F9B5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5233" y="1069096"/>
            <a:ext cx="2817846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Source: gas_leak.v7i.voc (Pascal VOC)
Total images: 8,881 | XML files: 8,881
Bounding boxes: 9,384 (avg 1.06/image)
Class: single: “leak”
Resolution: mostly 600 x 600 px
Format: Pascal VOC XML (xmin, ymin, xmax, ymax)</a:t>
            </a:r>
            <a:endParaRPr dirty="0"/>
          </a:p>
          <a:p>
            <a:pPr marL="342900" indent="-190500">
              <a:buNone/>
            </a:pPr>
            <a:endParaRPr dirty="0"/>
          </a:p>
        </p:txBody>
      </p:sp>
      <p:sp>
        <p:nvSpPr>
          <p:cNvPr id="2" name="Google Shape;133;p7">
            <a:extLst>
              <a:ext uri="{FF2B5EF4-FFF2-40B4-BE49-F238E27FC236}">
                <a16:creationId xmlns:a16="http://schemas.microsoft.com/office/drawing/2014/main" id="{0693850C-CB9F-3A46-4165-3A586AA29402}"/>
              </a:ext>
            </a:extLst>
          </p:cNvPr>
          <p:cNvSpPr txBox="1">
            <a:spLocks/>
          </p:cNvSpPr>
          <p:nvPr/>
        </p:nvSpPr>
        <p:spPr>
          <a:xfrm>
            <a:off x="3977951" y="1174843"/>
            <a:ext cx="8021216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</a:pPr>
            <a:r>
              <a:rPr lang="en-US" dirty="0"/>
              <a:t>Class distribution: all boxes = “leak” (single-class detector)
Box area: wide range: compact and large leaks present; multi-scale detection needed
Aspect ratio: mostly square (~1.0) but elongated shapes also present
Resolution: width ~600px consistent; height varies in subset: padding needed
Visual samples: annotations correctly placed on gas plume regions</a:t>
            </a:r>
          </a:p>
          <a:p>
            <a:pPr marL="342900" indent="-190500">
              <a:buFont typeface="Tw Cen MT" panose="020B0602020104020603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7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99108186-81FE-8EFD-9802-D453706A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EE032C69-59AC-68B2-8F14-19DA00D4B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474306"/>
            <a:ext cx="10730204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KEY FINDINGS &amp; DISCUSSION</a:t>
            </a:r>
            <a:endParaRPr dirty="0"/>
          </a:p>
        </p:txBody>
      </p:sp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7ADDF942-C187-9A3C-0197-51DA95F9B5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5233" y="1069096"/>
            <a:ext cx="2817846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SENSOR DATA FINDINGS
Both datasets: clean: no missing values, no duplicates
Sampled records are ALL normal (label=0). Fault samples must be added when preparing training data.
Rolling Std Dev spikes = potential early warning signal which is useful engineered feature
Some sensors drift slowly, rolling mean reveals underlying trends</a:t>
            </a:r>
            <a:endParaRPr dirty="0"/>
          </a:p>
          <a:p>
            <a:pPr marL="342900" indent="-190500">
              <a:buNone/>
            </a:pPr>
            <a:endParaRPr dirty="0"/>
          </a:p>
        </p:txBody>
      </p:sp>
      <p:sp>
        <p:nvSpPr>
          <p:cNvPr id="2" name="Google Shape;133;p7">
            <a:extLst>
              <a:ext uri="{FF2B5EF4-FFF2-40B4-BE49-F238E27FC236}">
                <a16:creationId xmlns:a16="http://schemas.microsoft.com/office/drawing/2014/main" id="{0693850C-CB9F-3A46-4165-3A586AA29402}"/>
              </a:ext>
            </a:extLst>
          </p:cNvPr>
          <p:cNvSpPr txBox="1">
            <a:spLocks/>
          </p:cNvSpPr>
          <p:nvPr/>
        </p:nvSpPr>
        <p:spPr>
          <a:xfrm>
            <a:off x="3977951" y="1174843"/>
            <a:ext cx="8021216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</a:pPr>
            <a:r>
              <a:rPr lang="en-US" dirty="0"/>
              <a:t>IMAGE DATA FINDINGS
9,384 boxes across 8,881 images: most images have one leak
Wide range of box sizes: multi-scale detector (YOLOv5) recommended
Aspect ratios vary: anchor boxes should reflect range of leak shapes
Height variation in some images: resizing/padding required before training</a:t>
            </a:r>
          </a:p>
          <a:p>
            <a:pPr marL="342900" indent="-190500">
              <a:buFont typeface="Tw Cen MT" panose="020B0602020104020603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76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B6973CF6-ADEF-F3C5-C974-D179145A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5430B431-5033-4D1D-E987-76BE3086E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474306"/>
            <a:ext cx="10730204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OUTPUT RESULTS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6B420-3456-228B-067A-65326580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7" y="1026239"/>
            <a:ext cx="3664769" cy="2734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43BDEC-4FCF-7C88-A030-E00483E2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711" y="916267"/>
            <a:ext cx="4089462" cy="2662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250B67-81D3-B241-2257-3E76B9962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97" y="3760273"/>
            <a:ext cx="4055187" cy="2707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A1C33C-2852-F2BE-1939-F94061C56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107" y="3760273"/>
            <a:ext cx="4124320" cy="273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13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5FE98177-7B03-80AB-30E5-ACAC27F6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5EA877AE-CF99-CEE1-F654-F9E8CC2E92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474306"/>
            <a:ext cx="10730204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OUTPUT RESULTS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BE907-498B-CB66-CF4A-1C385B0D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06" y="3979538"/>
            <a:ext cx="5737168" cy="270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E164E9-7744-F53D-B7EF-50AFC7C6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25" y="844348"/>
            <a:ext cx="5161864" cy="2872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1D094-7A1F-3E29-3CE6-01D635BCC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06" y="951785"/>
            <a:ext cx="5884876" cy="29523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A6FE46-6038-9EC2-0249-98A3FA27B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974" y="3716724"/>
            <a:ext cx="5491591" cy="329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32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9000111C-2174-C10A-79D5-67F583AC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34B10CF3-0F00-C01C-8AB4-55B2C0C21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8077200" cy="37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CONCLUSIONS &amp; LIMITATIONS</a:t>
            </a:r>
            <a:endParaRPr dirty="0"/>
          </a:p>
        </p:txBody>
      </p:sp>
      <p:sp>
        <p:nvSpPr>
          <p:cNvPr id="154" name="Google Shape;154;p10">
            <a:extLst>
              <a:ext uri="{FF2B5EF4-FFF2-40B4-BE49-F238E27FC236}">
                <a16:creationId xmlns:a16="http://schemas.microsoft.com/office/drawing/2014/main" id="{652664E3-DD5D-95C9-04BF-E3AEB8D852E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595" y="1489644"/>
            <a:ext cx="5853405" cy="512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Conclusions</a:t>
            </a:r>
          </a:p>
          <a:p>
            <a:pPr marL="342900" indent="-342900">
              <a:spcBef>
                <a:spcPts val="0"/>
              </a:spcBef>
            </a:pPr>
            <a:endParaRPr lang="en-US" dirty="0"/>
          </a:p>
          <a:p>
            <a:pPr marL="342900" indent="-342900">
              <a:spcBef>
                <a:spcPts val="0"/>
              </a:spcBef>
            </a:pPr>
            <a:r>
              <a:rPr lang="en-US" dirty="0"/>
              <a:t>Both datasets are clean, well-structured, and ready for model training</a:t>
            </a:r>
            <a:endParaRPr dirty="0"/>
          </a:p>
          <a:p>
            <a:pPr marL="342900" indent="-342900"/>
            <a:r>
              <a:rPr lang="en-US" dirty="0"/>
              <a:t>EDA revealed important properties: class imbalance in sensor labels, multi-scale variation in image annotations</a:t>
            </a:r>
            <a:endParaRPr dirty="0"/>
          </a:p>
          <a:p>
            <a:pPr marL="342900" indent="-342900"/>
            <a:r>
              <a:rPr lang="en-US" dirty="0"/>
              <a:t>Rolling statistics are a promising feature engineering approach for fault detection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2" name="Google Shape;160;p11">
            <a:extLst>
              <a:ext uri="{FF2B5EF4-FFF2-40B4-BE49-F238E27FC236}">
                <a16:creationId xmlns:a16="http://schemas.microsoft.com/office/drawing/2014/main" id="{F8D08623-4698-3D9C-4B3E-E30D02782B83}"/>
              </a:ext>
            </a:extLst>
          </p:cNvPr>
          <p:cNvSpPr txBox="1">
            <a:spLocks/>
          </p:cNvSpPr>
          <p:nvPr/>
        </p:nvSpPr>
        <p:spPr>
          <a:xfrm>
            <a:off x="6410132" y="1489644"/>
            <a:ext cx="5539273" cy="5127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</a:pPr>
            <a:r>
              <a:rPr lang="en-US" dirty="0"/>
              <a:t>Limitations</a:t>
            </a:r>
          </a:p>
          <a:p>
            <a:pPr marL="342900" indent="-342900">
              <a:spcBef>
                <a:spcPts val="0"/>
              </a:spcBef>
            </a:pPr>
            <a:endParaRPr lang="en-US" dirty="0"/>
          </a:p>
          <a:p>
            <a:pPr marL="342900" indent="-342900">
              <a:spcBef>
                <a:spcPts val="0"/>
              </a:spcBef>
            </a:pPr>
            <a:r>
              <a:rPr lang="en-US" dirty="0"/>
              <a:t>Only 1,000 rows sampled from TEP; no fault records captured; full dataset needed</a:t>
            </a:r>
          </a:p>
          <a:p>
            <a:pPr marL="342900" indent="-342900"/>
            <a:r>
              <a:rPr lang="en-US" dirty="0"/>
              <a:t>No models trained yet; this study is EDA only; results cannot be validated without a model</a:t>
            </a:r>
          </a:p>
          <a:p>
            <a:pPr marL="342900" indent="-342900"/>
            <a:r>
              <a:rPr lang="en-US" dirty="0"/>
              <a:t>Image dataset may include augmented/duplicate frames; deduplication may improve model generalisation</a:t>
            </a:r>
          </a:p>
        </p:txBody>
      </p:sp>
    </p:spTree>
    <p:extLst>
      <p:ext uri="{BB962C8B-B14F-4D97-AF65-F5344CB8AC3E}">
        <p14:creationId xmlns:p14="http://schemas.microsoft.com/office/powerpoint/2010/main" val="2369580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495</TotalTime>
  <Words>1155</Words>
  <Application>Microsoft Office PowerPoint</Application>
  <PresentationFormat>Widescreen</PresentationFormat>
  <Paragraphs>77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</vt:lpstr>
      <vt:lpstr>Calibri</vt:lpstr>
      <vt:lpstr>Tw Cen MT</vt:lpstr>
      <vt:lpstr>Tw Cen MT Condensed</vt:lpstr>
      <vt:lpstr>Wingdings</vt:lpstr>
      <vt:lpstr>Wingdings 3</vt:lpstr>
      <vt:lpstr>Integral</vt:lpstr>
      <vt:lpstr>Department of Computer Science, COCIS Makerere University Supervisor: Ggaliwango Marvin</vt:lpstr>
      <vt:lpstr>Contents of Presentation</vt:lpstr>
      <vt:lpstr>INTRODUCTION &amp; BACKGROUND</vt:lpstr>
      <vt:lpstr>RELATED WORK</vt:lpstr>
      <vt:lpstr>PROBLEM STATEMENT</vt:lpstr>
      <vt:lpstr>RESEARCH OBJECTIVES</vt:lpstr>
      <vt:lpstr>RESEARCH CONTRIBUTIONS</vt:lpstr>
      <vt:lpstr>METHODOLOGY</vt:lpstr>
      <vt:lpstr>DATASET 1: TENNESSEE EASTMAN PROCESS (TEP) SENSOR DATA</vt:lpstr>
      <vt:lpstr>DATASET 2: GAS LEAK IMAGE DATASET</vt:lpstr>
      <vt:lpstr>KEY FINDINGS &amp; DISCUSSION</vt:lpstr>
      <vt:lpstr>OUTPUT RESULTS</vt:lpstr>
      <vt:lpstr>OUTPUT RESULTS</vt:lpstr>
      <vt:lpstr>CONCLUSIONS &amp;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Ggaliwango Marvin</dc:creator>
  <cp:lastModifiedBy>Carlton Ayebare</cp:lastModifiedBy>
  <cp:revision>46</cp:revision>
  <dcterms:created xsi:type="dcterms:W3CDTF">2006-08-16T00:00:00Z</dcterms:created>
  <dcterms:modified xsi:type="dcterms:W3CDTF">2026-03-02T09:29:09Z</dcterms:modified>
</cp:coreProperties>
</file>